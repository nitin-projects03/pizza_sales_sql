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365760"/>
            <a:ext cx="2560320" cy="2560320"/>
          </a:xfrm>
          <a:prstGeom prst="ellipse">
            <a:avLst/>
          </a:prstGeom>
          <a:solidFill>
            <a:srgbClr val="E67E22"/>
          </a:solidFill>
          <a:ln w="508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0" y="36576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🍕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85800" y="457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PIZZA SALES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PROJECT ANALYSIS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50292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Pizzamania (MySQL)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MySQL Workbench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 SQL Analyses (Basic → Advanced)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074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Presented by  Nitin Tiwari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📊  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pizzamania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715000" y="1143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1508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order_details,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pizzas, pizza_types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34440" y="2834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21,350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274320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604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715000" y="2834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$817,860.05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📌  Levels:  Basic (Q1–Q5)  ·  Intermediate (Q6–Q9)  ·  Advanced (Q10–Q13)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🗂️  Database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898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order_id (PK)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00784"/>
            <a:ext cx="402336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007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11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023360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order_details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389888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3898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order_details_id (PK)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700784"/>
            <a:ext cx="402336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7007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order_id (FK)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011680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011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pizza_id (FK)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22576"/>
            <a:ext cx="402336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225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quantity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40233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pizzas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218688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2186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pizza_id (PK)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529584"/>
            <a:ext cx="402336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295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pizza_type_id (FK)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840480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8404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size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151376"/>
            <a:ext cx="402336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1513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price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834640"/>
            <a:ext cx="402336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pizza_types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09160" y="3218688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2186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pizza_type_id (PK)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529584"/>
            <a:ext cx="402336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5295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name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840480"/>
            <a:ext cx="4023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8404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category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4151376"/>
            <a:ext cx="402336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1513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ingredients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Total Number of Orders</a:t>
            </a:r>
            <a:endParaRPr lang="en-US" sz="2000" dirty="0"/>
          </a:p>
        </p:txBody>
      </p:sp>
      <p:pic>
        <p:nvPicPr>
          <p:cNvPr id="6" name="Image 0" descr="/mnt/user-data/uploads/2026-04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21,350 total orders placed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pizzeria processed over 21 thousand orders, reflecting strong customer demand throughout the year.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Total Revenue from Pizza Sales</a:t>
            </a:r>
            <a:endParaRPr lang="en-US" sz="2000" dirty="0"/>
          </a:p>
        </p:txBody>
      </p:sp>
      <p:pic>
        <p:nvPicPr>
          <p:cNvPr id="6" name="Image 0" descr="/mnt/user-data/uploads/2026-04-13__1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$817,860.05 total revenue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generated over $817K in revenue — a healthy yearly performance for a single pizza outlet.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Highest-Priced Pizza</a:t>
            </a:r>
            <a:endParaRPr lang="en-US" sz="2000" dirty="0"/>
          </a:p>
        </p:txBody>
      </p:sp>
      <p:pic>
        <p:nvPicPr>
          <p:cNvPr id="6" name="Image 0" descr="/mnt/user-data/uploads/2026-04-13__2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Greek Pizza — $35.95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Greek Pizza tops the price list at $35.95, likely a premium / large-size specialty offering.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Most Common Pizza Size Ordered</a:t>
            </a:r>
            <a:endParaRPr lang="en-US" sz="2000" dirty="0"/>
          </a:p>
        </p:txBody>
      </p:sp>
      <p:pic>
        <p:nvPicPr>
          <p:cNvPr id="6" name="Image 0" descr="/mnt/user-data/uploads/2026-04-13__3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L — 18,526 orders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pizzas dominate orders (18,526), suggesting customers prefer value-for-money larger portions.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5 Most Ordered Pizza Types</a:t>
            </a:r>
            <a:endParaRPr lang="en-US" sz="2000" dirty="0"/>
          </a:p>
        </p:txBody>
      </p:sp>
      <p:pic>
        <p:nvPicPr>
          <p:cNvPr id="6" name="Image 0" descr="/mnt/user-data/uploads/2026-04-13__4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Deluxe (2453) · BBQ Chicken (2432) · Hawaiian (2422) · Pepperoni (2418) · Thai Chicken (2371)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Deluxe leads, but top-5 quantities are closely clustered, indicating broad popularity across types.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Total Quantity by Pizza Category</a:t>
            </a:r>
            <a:endParaRPr lang="en-US" sz="2000" dirty="0"/>
          </a:p>
        </p:txBody>
      </p:sp>
      <p:pic>
        <p:nvPicPr>
          <p:cNvPr id="6" name="Image 0" descr="/mnt/user-data/uploads/2026-04-13__5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(14,888) · Supreme (11,987) · Veggie (11,649) · Chicken (11,050)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category leads in volume; all four categories have strong representation with no extreme outlier.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Order Distribution by Hour of Day</a:t>
            </a:r>
            <a:endParaRPr lang="en-US" sz="2000" dirty="0"/>
          </a:p>
        </p:txBody>
      </p:sp>
      <p:pic>
        <p:nvPicPr>
          <p:cNvPr id="6" name="Image 0" descr="/mnt/user-data/uploads/2026-04-13__6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12:00 (2520) and 17:00–18:00 (1920–2336)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hour (12 PM) is the busiest period. A secondary evening peak occurs around 5–6 PM.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Category-wise Pizza Distribution</a:t>
            </a:r>
            <a:endParaRPr lang="en-US" sz="2000" dirty="0"/>
          </a:p>
        </p:txBody>
      </p:sp>
      <p:pic>
        <p:nvPicPr>
          <p:cNvPr id="6" name="Image 0" descr="/mnt/user-data/uploads/2026-04-13__7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(6) · Classic (8) · Supreme (9) · Veggie (9)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and Veggie categories offer the widest variety (9 pizzas each), giving customers more choice.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Average Pizzas Ordered Per Day</a:t>
            </a:r>
            <a:endParaRPr lang="en-US" sz="2000" dirty="0"/>
          </a:p>
        </p:txBody>
      </p:sp>
      <p:pic>
        <p:nvPicPr>
          <p:cNvPr id="6" name="Image 0" descr="/mnt/user-data/uploads/2026-04-13__8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138.47 pizzas per day (on average)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~138 pizzas are ordered daily, providing a useful baseline for inventory and staffing.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3 Pizza Types by Revenue</a:t>
            </a:r>
            <a:endParaRPr lang="en-US" sz="2000" dirty="0"/>
          </a:p>
        </p:txBody>
      </p:sp>
      <p:pic>
        <p:nvPicPr>
          <p:cNvPr id="6" name="Image 0" descr="/mnt/user-data/uploads/2026-04-13__9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Chicken ($43,434) · BBQ Chicken ($42,768) · California Chicken ($41,409)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Chicken-based pizzas dominate revenue despite not being the most ordered by quantity — higher price points drive value.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% Contribution by Category</a:t>
            </a:r>
            <a:endParaRPr lang="en-US" sz="2000" dirty="0"/>
          </a:p>
        </p:txBody>
      </p:sp>
      <p:pic>
        <p:nvPicPr>
          <p:cNvPr id="6" name="Image 0" descr="/mnt/user-data/uploads/2026-04-13__10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26.9% · Supreme 25.5% · Chicken 24.0% · Veggie 23.7%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remarkably balanced across all four categories, indicating a well-rounded and diversified menu.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Cumulative Revenue Over Time</a:t>
            </a:r>
            <a:endParaRPr lang="en-US" sz="2000" dirty="0"/>
          </a:p>
        </p:txBody>
      </p:sp>
      <p:pic>
        <p:nvPicPr>
          <p:cNvPr id="6" name="Image 0" descr="/mnt/user-data/uploads/2026-04-13__11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 from Jan 2015 — consistent daily revenue accumulation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 curve is smooth and consistent — no major seasonal slumps, indicating steady year-round demand.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3 Pizza Types per Category (Revenue)</a:t>
            </a:r>
            <a:endParaRPr lang="en-US" sz="2000" dirty="0"/>
          </a:p>
        </p:txBody>
      </p:sp>
      <p:pic>
        <p:nvPicPr>
          <p:cNvPr id="6" name="Image 0" descr="/mnt/user-data/uploads/2026-04-13__12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868680"/>
            <a:ext cx="3154680" cy="1417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868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67E22"/>
                </a:solidFill>
              </a:rPr>
              <a:t>RESULT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120700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Chicken: Thai, BBQ, California · Classic: Deluxe, Hawaiian, Pepperoni · Supreme &amp; Veggie: top-3 each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54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</a:rPr>
              <a:t>💡 INSIGHT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688336"/>
            <a:ext cx="3154680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2724912"/>
            <a:ext cx="2971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RANK() window function to partition revenue per category — Thai Chicken leads all categories at $43,434.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🏆  Key Insights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$817,860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97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21,350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2103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Total Orders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0604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97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Size 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2103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Most Popular Size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260604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80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🍕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383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Top Category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60604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880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00400" y="3383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$35.95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0400" y="3886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Highest-Priced Pizza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788920"/>
            <a:ext cx="260604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880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035040" y="3383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138/day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35040" y="3886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Avg. Daily Orders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🛠️  SQL Techniques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Basic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07592"/>
            <a:ext cx="4023360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3840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SELECT, COUNT, SUM, ROUND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ORDER BY, LIMIT, GROUP BY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WHERE clause filtering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23360" cy="34747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Joins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307592"/>
            <a:ext cx="4023360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53312"/>
            <a:ext cx="3840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INNER JOIN across 3 tables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Multi-table joins (pizza_types → pizzas → order_details)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JOIN with aggregation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023360" cy="34747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34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Advanced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182112"/>
            <a:ext cx="4023360" cy="1627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27832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Subqueries (correlated)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Window Functions — SUM() OVER, RANK() OVER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PARTITION BY category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Cumulative revenue analysis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023360" cy="34747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834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Functions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182112"/>
            <a:ext cx="4023360" cy="1627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227832"/>
            <a:ext cx="38404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HOUR(time) — time extraction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AVG() on subquery result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ROUND() for formatting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COUNT(name), COUNT(order_id)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Pizza Sales Analysis  |  Database: Pizzamania  |  Tool: MySQL Workbench  |  By Nitin Tiwari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800" y="502920"/>
            <a:ext cx="3200400" cy="3200400"/>
          </a:xfrm>
          <a:prstGeom prst="ellipse">
            <a:avLst/>
          </a:prstGeom>
          <a:solidFill>
            <a:srgbClr val="C0392B"/>
          </a:solidFill>
          <a:ln w="635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71800" y="50292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🍕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7E22"/>
                </a:solidFill>
              </a:rPr>
              <a:t>Nitin Tiwari  ·  Pizza Sales SQL Project  ·  Database: Pizzamania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SQL Project</dc:title>
  <dc:subject>PptxGenJS Presentation</dc:subject>
  <dc:creator>Nitin Tiwari</dc:creator>
  <cp:lastModifiedBy>Nitin Tiwari</cp:lastModifiedBy>
  <cp:revision>1</cp:revision>
  <dcterms:created xsi:type="dcterms:W3CDTF">2026-04-13T10:14:25Z</dcterms:created>
  <dcterms:modified xsi:type="dcterms:W3CDTF">2026-04-13T10:14:25Z</dcterms:modified>
</cp:coreProperties>
</file>